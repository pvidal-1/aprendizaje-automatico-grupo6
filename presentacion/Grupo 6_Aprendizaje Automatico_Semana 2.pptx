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84" r:id="rId6"/>
    <p:sldId id="285" r:id="rId7"/>
    <p:sldId id="275" r:id="rId8"/>
    <p:sldId id="286" r:id="rId9"/>
    <p:sldId id="281" r:id="rId10"/>
  </p:sldIdLst>
  <p:sldSz cx="18288000" cy="10287000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OF32VAtMgLYjua+ZssAf9q/Vq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16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B0E251-8CDC-49DD-B648-56E88979C073}">
  <a:tblStyle styleId="{FEB0E251-8CDC-49DD-B648-56E88979C0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587A478-D671-4230-B304-FF17D05509C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44" autoAdjust="0"/>
    <p:restoredTop sz="94660"/>
  </p:normalViewPr>
  <p:slideViewPr>
    <p:cSldViewPr snapToGrid="0">
      <p:cViewPr varScale="1">
        <p:scale>
          <a:sx n="59" d="100"/>
          <a:sy n="59" d="100"/>
        </p:scale>
        <p:origin x="173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Cantos" userId="77f330693bb1bcbf" providerId="LiveId" clId="{65FA89B1-3CF1-474D-88D1-63BCD4F4645B}"/>
    <pc:docChg chg="modSld">
      <pc:chgData name="Andres Cantos" userId="77f330693bb1bcbf" providerId="LiveId" clId="{65FA89B1-3CF1-474D-88D1-63BCD4F4645B}" dt="2025-05-03T07:00:40.457" v="0" actId="20577"/>
      <pc:docMkLst>
        <pc:docMk/>
      </pc:docMkLst>
      <pc:sldChg chg="modNotesTx">
        <pc:chgData name="Andres Cantos" userId="77f330693bb1bcbf" providerId="LiveId" clId="{65FA89B1-3CF1-474D-88D1-63BCD4F4645B}" dt="2025-05-03T07:00:40.457" v="0" actId="20577"/>
        <pc:sldMkLst>
          <pc:docMk/>
          <pc:sldMk cId="0" sldId="28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808C45-0B20-4EE9-BCD2-BD337BC4A572}" type="doc">
      <dgm:prSet loTypeId="urn:microsoft.com/office/officeart/2005/8/layout/process2" loCatId="process" qsTypeId="urn:microsoft.com/office/officeart/2005/8/quickstyle/simple1" qsCatId="simple" csTypeId="urn:microsoft.com/office/officeart/2005/8/colors/accent2_1" csCatId="accent2" phldr="1"/>
      <dgm:spPr/>
    </dgm:pt>
    <dgm:pt modelId="{DB4499B4-7896-4D0C-AA79-F157DF886B12}">
      <dgm:prSet phldrT="[Texto]"/>
      <dgm:spPr/>
      <dgm:t>
        <a:bodyPr/>
        <a:lstStyle/>
        <a:p>
          <a:r>
            <a:rPr lang="es-ES" dirty="0"/>
            <a:t>En resumen, </a:t>
          </a:r>
          <a:r>
            <a:rPr lang="es-ES" dirty="0" err="1"/>
            <a:t>Random</a:t>
          </a:r>
          <a:r>
            <a:rPr lang="es-ES" dirty="0"/>
            <a:t> Forest logró el mejor equilibrio general entre métricas, mientras que el Árbol de Decisión destacó en precisión y SVM en estabilidad del </a:t>
          </a:r>
          <a:r>
            <a:rPr lang="es-ES" dirty="0" err="1"/>
            <a:t>recall</a:t>
          </a:r>
          <a:r>
            <a:rPr lang="es-ES" dirty="0"/>
            <a:t>.</a:t>
          </a:r>
        </a:p>
      </dgm:t>
    </dgm:pt>
    <dgm:pt modelId="{50BC96A4-9D48-46F7-A2C1-6D7F74762DF1}" type="parTrans" cxnId="{BD57D78E-FD0B-4351-9746-6E8D1D14B51E}">
      <dgm:prSet/>
      <dgm:spPr/>
      <dgm:t>
        <a:bodyPr/>
        <a:lstStyle/>
        <a:p>
          <a:endParaRPr lang="es-ES"/>
        </a:p>
      </dgm:t>
    </dgm:pt>
    <dgm:pt modelId="{842BB389-A192-4A0E-8D65-56593B7FCDCA}" type="sibTrans" cxnId="{BD57D78E-FD0B-4351-9746-6E8D1D14B51E}">
      <dgm:prSet/>
      <dgm:spPr/>
      <dgm:t>
        <a:bodyPr/>
        <a:lstStyle/>
        <a:p>
          <a:endParaRPr lang="es-ES"/>
        </a:p>
      </dgm:t>
    </dgm:pt>
    <dgm:pt modelId="{FA68AA2A-FC2C-46E2-AC6C-6A1D012ABC72}">
      <dgm:prSet phldrT="[Texto]"/>
      <dgm:spPr/>
      <dgm:t>
        <a:bodyPr/>
        <a:lstStyle/>
        <a:p>
          <a:pPr>
            <a:buNone/>
          </a:pPr>
          <a:r>
            <a:rPr lang="es-ES" b="0" i="0" dirty="0" err="1"/>
            <a:t>Random</a:t>
          </a:r>
          <a:r>
            <a:rPr lang="es-ES" b="0" i="0" dirty="0"/>
            <a:t> Forest es el modelo más robusto de los tres por varias razones: </a:t>
          </a:r>
          <a:r>
            <a:rPr lang="es-ES" b="1" i="0" dirty="0"/>
            <a:t>Mejor F1-score (0.7017), mayor estabilidad, mejor rendimiento global</a:t>
          </a:r>
          <a:endParaRPr lang="es-ES" dirty="0"/>
        </a:p>
      </dgm:t>
    </dgm:pt>
    <dgm:pt modelId="{6FF76CE8-C126-4EC2-86B9-1B0B1EC8D51F}" type="parTrans" cxnId="{1B34BFCD-CD59-46D5-B29D-67F41102AC43}">
      <dgm:prSet/>
      <dgm:spPr/>
      <dgm:t>
        <a:bodyPr/>
        <a:lstStyle/>
        <a:p>
          <a:endParaRPr lang="es-ES"/>
        </a:p>
      </dgm:t>
    </dgm:pt>
    <dgm:pt modelId="{36B8B813-3BCD-49C6-B4C1-CDFACC899ACD}" type="sibTrans" cxnId="{1B34BFCD-CD59-46D5-B29D-67F41102AC43}">
      <dgm:prSet/>
      <dgm:spPr/>
      <dgm:t>
        <a:bodyPr/>
        <a:lstStyle/>
        <a:p>
          <a:endParaRPr lang="es-ES"/>
        </a:p>
      </dgm:t>
    </dgm:pt>
    <dgm:pt modelId="{401C858D-A7FD-416D-B60B-ED0330BD4BC4}" type="pres">
      <dgm:prSet presAssocID="{13808C45-0B20-4EE9-BCD2-BD337BC4A572}" presName="linearFlow" presStyleCnt="0">
        <dgm:presLayoutVars>
          <dgm:resizeHandles val="exact"/>
        </dgm:presLayoutVars>
      </dgm:prSet>
      <dgm:spPr/>
    </dgm:pt>
    <dgm:pt modelId="{87533EFD-7340-4A7F-8AE7-1A6417B41BBC}" type="pres">
      <dgm:prSet presAssocID="{DB4499B4-7896-4D0C-AA79-F157DF886B12}" presName="node" presStyleLbl="node1" presStyleIdx="0" presStyleCnt="2">
        <dgm:presLayoutVars>
          <dgm:bulletEnabled val="1"/>
        </dgm:presLayoutVars>
      </dgm:prSet>
      <dgm:spPr/>
    </dgm:pt>
    <dgm:pt modelId="{48AB9376-DAED-42C0-A6C9-DFA8F82FD6A4}" type="pres">
      <dgm:prSet presAssocID="{842BB389-A192-4A0E-8D65-56593B7FCDCA}" presName="sibTrans" presStyleLbl="sibTrans2D1" presStyleIdx="0" presStyleCnt="1"/>
      <dgm:spPr/>
    </dgm:pt>
    <dgm:pt modelId="{C97D311A-5EF8-4821-B1B4-33BD10AA7837}" type="pres">
      <dgm:prSet presAssocID="{842BB389-A192-4A0E-8D65-56593B7FCDCA}" presName="connectorText" presStyleLbl="sibTrans2D1" presStyleIdx="0" presStyleCnt="1"/>
      <dgm:spPr/>
    </dgm:pt>
    <dgm:pt modelId="{05578F4D-3F9F-4D76-9558-329F164C68E3}" type="pres">
      <dgm:prSet presAssocID="{FA68AA2A-FC2C-46E2-AC6C-6A1D012ABC72}" presName="node" presStyleLbl="node1" presStyleIdx="1" presStyleCnt="2">
        <dgm:presLayoutVars>
          <dgm:bulletEnabled val="1"/>
        </dgm:presLayoutVars>
      </dgm:prSet>
      <dgm:spPr/>
    </dgm:pt>
  </dgm:ptLst>
  <dgm:cxnLst>
    <dgm:cxn modelId="{942E8037-6B69-43D7-966D-805EC1B0B9BF}" type="presOf" srcId="{13808C45-0B20-4EE9-BCD2-BD337BC4A572}" destId="{401C858D-A7FD-416D-B60B-ED0330BD4BC4}" srcOrd="0" destOrd="0" presId="urn:microsoft.com/office/officeart/2005/8/layout/process2"/>
    <dgm:cxn modelId="{AB02E038-4EBC-48F3-A62E-E3E15D490667}" type="presOf" srcId="{DB4499B4-7896-4D0C-AA79-F157DF886B12}" destId="{87533EFD-7340-4A7F-8AE7-1A6417B41BBC}" srcOrd="0" destOrd="0" presId="urn:microsoft.com/office/officeart/2005/8/layout/process2"/>
    <dgm:cxn modelId="{BD57D78E-FD0B-4351-9746-6E8D1D14B51E}" srcId="{13808C45-0B20-4EE9-BCD2-BD337BC4A572}" destId="{DB4499B4-7896-4D0C-AA79-F157DF886B12}" srcOrd="0" destOrd="0" parTransId="{50BC96A4-9D48-46F7-A2C1-6D7F74762DF1}" sibTransId="{842BB389-A192-4A0E-8D65-56593B7FCDCA}"/>
    <dgm:cxn modelId="{A29F02B1-1AFE-4B8F-B1B3-8C9F9EF0E4C5}" type="presOf" srcId="{FA68AA2A-FC2C-46E2-AC6C-6A1D012ABC72}" destId="{05578F4D-3F9F-4D76-9558-329F164C68E3}" srcOrd="0" destOrd="0" presId="urn:microsoft.com/office/officeart/2005/8/layout/process2"/>
    <dgm:cxn modelId="{1B34BFCD-CD59-46D5-B29D-67F41102AC43}" srcId="{13808C45-0B20-4EE9-BCD2-BD337BC4A572}" destId="{FA68AA2A-FC2C-46E2-AC6C-6A1D012ABC72}" srcOrd="1" destOrd="0" parTransId="{6FF76CE8-C126-4EC2-86B9-1B0B1EC8D51F}" sibTransId="{36B8B813-3BCD-49C6-B4C1-CDFACC899ACD}"/>
    <dgm:cxn modelId="{61786FDE-A8B4-46AA-8E26-238B7BA6F522}" type="presOf" srcId="{842BB389-A192-4A0E-8D65-56593B7FCDCA}" destId="{48AB9376-DAED-42C0-A6C9-DFA8F82FD6A4}" srcOrd="0" destOrd="0" presId="urn:microsoft.com/office/officeart/2005/8/layout/process2"/>
    <dgm:cxn modelId="{92C210F0-8381-49C0-97FD-E1ADCA30B3A5}" type="presOf" srcId="{842BB389-A192-4A0E-8D65-56593B7FCDCA}" destId="{C97D311A-5EF8-4821-B1B4-33BD10AA7837}" srcOrd="1" destOrd="0" presId="urn:microsoft.com/office/officeart/2005/8/layout/process2"/>
    <dgm:cxn modelId="{72828708-BFB0-4B03-BC10-A14E8FC3C0EC}" type="presParOf" srcId="{401C858D-A7FD-416D-B60B-ED0330BD4BC4}" destId="{87533EFD-7340-4A7F-8AE7-1A6417B41BBC}" srcOrd="0" destOrd="0" presId="urn:microsoft.com/office/officeart/2005/8/layout/process2"/>
    <dgm:cxn modelId="{C75A015C-E4F2-4662-A20A-13917ADD99C8}" type="presParOf" srcId="{401C858D-A7FD-416D-B60B-ED0330BD4BC4}" destId="{48AB9376-DAED-42C0-A6C9-DFA8F82FD6A4}" srcOrd="1" destOrd="0" presId="urn:microsoft.com/office/officeart/2005/8/layout/process2"/>
    <dgm:cxn modelId="{F6DB59B8-8EEF-445C-A53B-EEDA38365AB6}" type="presParOf" srcId="{48AB9376-DAED-42C0-A6C9-DFA8F82FD6A4}" destId="{C97D311A-5EF8-4821-B1B4-33BD10AA7837}" srcOrd="0" destOrd="0" presId="urn:microsoft.com/office/officeart/2005/8/layout/process2"/>
    <dgm:cxn modelId="{2F729937-41CB-4BFB-8CEA-7593DFDF94FA}" type="presParOf" srcId="{401C858D-A7FD-416D-B60B-ED0330BD4BC4}" destId="{05578F4D-3F9F-4D76-9558-329F164C68E3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33EFD-7340-4A7F-8AE7-1A6417B41BBC}">
      <dsp:nvSpPr>
        <dsp:cNvPr id="0" name=""/>
        <dsp:cNvSpPr/>
      </dsp:nvSpPr>
      <dsp:spPr>
        <a:xfrm>
          <a:off x="1324627" y="992"/>
          <a:ext cx="5850731" cy="32504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En resumen, </a:t>
          </a:r>
          <a:r>
            <a:rPr lang="es-ES" sz="3000" kern="1200" dirty="0" err="1"/>
            <a:t>Random</a:t>
          </a:r>
          <a:r>
            <a:rPr lang="es-ES" sz="3000" kern="1200" dirty="0"/>
            <a:t> Forest logró el mejor equilibrio general entre métricas, mientras que el Árbol de Decisión destacó en precisión y SVM en estabilidad del </a:t>
          </a:r>
          <a:r>
            <a:rPr lang="es-ES" sz="3000" kern="1200" dirty="0" err="1"/>
            <a:t>recall</a:t>
          </a:r>
          <a:r>
            <a:rPr lang="es-ES" sz="3000" kern="1200" dirty="0"/>
            <a:t>.</a:t>
          </a:r>
        </a:p>
      </dsp:txBody>
      <dsp:txXfrm>
        <a:off x="1419828" y="96193"/>
        <a:ext cx="5660329" cy="3060004"/>
      </dsp:txXfrm>
    </dsp:sp>
    <dsp:sp modelId="{48AB9376-DAED-42C0-A6C9-DFA8F82FD6A4}">
      <dsp:nvSpPr>
        <dsp:cNvPr id="0" name=""/>
        <dsp:cNvSpPr/>
      </dsp:nvSpPr>
      <dsp:spPr>
        <a:xfrm rot="5400000">
          <a:off x="3640542" y="3332658"/>
          <a:ext cx="1218902" cy="14626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400" kern="1200"/>
        </a:p>
      </dsp:txBody>
      <dsp:txXfrm rot="-5400000">
        <a:off x="3811189" y="3454548"/>
        <a:ext cx="877610" cy="853231"/>
      </dsp:txXfrm>
    </dsp:sp>
    <dsp:sp modelId="{05578F4D-3F9F-4D76-9558-329F164C68E3}">
      <dsp:nvSpPr>
        <dsp:cNvPr id="0" name=""/>
        <dsp:cNvSpPr/>
      </dsp:nvSpPr>
      <dsp:spPr>
        <a:xfrm>
          <a:off x="1324627" y="4876601"/>
          <a:ext cx="5850731" cy="32504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0" i="0" kern="1200" dirty="0" err="1"/>
            <a:t>Random</a:t>
          </a:r>
          <a:r>
            <a:rPr lang="es-ES" sz="3000" b="0" i="0" kern="1200" dirty="0"/>
            <a:t> Forest es el modelo más robusto de los tres por varias razones: </a:t>
          </a:r>
          <a:r>
            <a:rPr lang="es-ES" sz="3000" b="1" i="0" kern="1200" dirty="0"/>
            <a:t>Mejor F1-score (0.7017), mayor estabilidad, mejor rendimiento global</a:t>
          </a:r>
          <a:endParaRPr lang="es-ES" sz="3000" kern="1200" dirty="0"/>
        </a:p>
      </dsp:txBody>
      <dsp:txXfrm>
        <a:off x="1419828" y="4971802"/>
        <a:ext cx="5660329" cy="30600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74a4183d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2d74a4183d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99E136FF-C427-C5FD-2BD4-E754807E7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74a4183d5_2_0:notes">
            <a:extLst>
              <a:ext uri="{FF2B5EF4-FFF2-40B4-BE49-F238E27FC236}">
                <a16:creationId xmlns:a16="http://schemas.microsoft.com/office/drawing/2014/main" id="{3A1865A1-EA4A-F46F-6A69-B5C805629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2d74a4183d5_2_0:notes">
            <a:extLst>
              <a:ext uri="{FF2B5EF4-FFF2-40B4-BE49-F238E27FC236}">
                <a16:creationId xmlns:a16="http://schemas.microsoft.com/office/drawing/2014/main" id="{202DC059-0776-410C-B8FD-8A72E29C7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7737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276584A-43B3-31E6-6EB8-275331FF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74a4183d5_2_0:notes">
            <a:extLst>
              <a:ext uri="{FF2B5EF4-FFF2-40B4-BE49-F238E27FC236}">
                <a16:creationId xmlns:a16="http://schemas.microsoft.com/office/drawing/2014/main" id="{494650CC-55F4-FD6D-9FD2-8F6EBDE38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2d74a4183d5_2_0:notes">
            <a:extLst>
              <a:ext uri="{FF2B5EF4-FFF2-40B4-BE49-F238E27FC236}">
                <a16:creationId xmlns:a16="http://schemas.microsoft.com/office/drawing/2014/main" id="{4F696B98-6151-54C1-588A-4462E176E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d746ef08c1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3" name="Google Shape;323;g2d746ef08c1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F6FD9702-641E-A287-4105-6B40E0998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d746ef08c1_1_50:notes">
            <a:extLst>
              <a:ext uri="{FF2B5EF4-FFF2-40B4-BE49-F238E27FC236}">
                <a16:creationId xmlns:a16="http://schemas.microsoft.com/office/drawing/2014/main" id="{E4174D13-995A-B3F6-0F3A-038597A7C5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3" name="Google Shape;323;g2d746ef08c1_1_50:notes">
            <a:extLst>
              <a:ext uri="{FF2B5EF4-FFF2-40B4-BE49-F238E27FC236}">
                <a16:creationId xmlns:a16="http://schemas.microsoft.com/office/drawing/2014/main" id="{431C2596-CC0C-8922-2784-1F53289F7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5469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2089c74d9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21" name="Google Shape;421;g22089c74d9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100000">
            <a:off x="14324902" y="1469072"/>
            <a:ext cx="4879847" cy="15755995"/>
          </a:xfrm>
          <a:custGeom>
            <a:avLst/>
            <a:gdLst/>
            <a:ahLst/>
            <a:cxnLst/>
            <a:rect l="l" t="t" r="r" b="b"/>
            <a:pathLst>
              <a:path w="4879847" h="15755995" extrusionOk="0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12" b="-529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91575" y="2319361"/>
            <a:ext cx="14097715" cy="5648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7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técnica mediante SVM, Árboles de Decisión y </a:t>
            </a:r>
            <a:r>
              <a:rPr lang="es-ES" sz="72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</a:t>
            </a:r>
            <a:r>
              <a:rPr lang="es-ES" sz="7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Forest</a:t>
            </a:r>
          </a:p>
          <a:p>
            <a:pPr marL="0" marR="0" lvl="0" indent="0" algn="ctr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800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Spotify </a:t>
            </a:r>
            <a:r>
              <a:rPr lang="es-ES" sz="8000" b="1" i="0" u="none" strike="noStrike" cap="none" dirty="0" err="1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Tracks</a:t>
            </a:r>
            <a:r>
              <a:rPr lang="es-ES" sz="800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ES" sz="8000" b="1" i="0" u="none" strike="noStrike" cap="none" dirty="0" err="1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r>
              <a:rPr lang="es-ES" sz="800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-ES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2700000">
            <a:off x="521329" y="-3317944"/>
            <a:ext cx="2336254" cy="7543272"/>
          </a:xfrm>
          <a:custGeom>
            <a:avLst/>
            <a:gdLst/>
            <a:ahLst/>
            <a:cxnLst/>
            <a:rect l="l" t="t" r="r" b="b"/>
            <a:pathLst>
              <a:path w="2336254" h="7543272" extrusionOk="0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12" b="-529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rot="2708328">
            <a:off x="9786933" y="8499369"/>
            <a:ext cx="4018080" cy="3956261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 rot="2708328">
            <a:off x="16181728" y="6542130"/>
            <a:ext cx="4018080" cy="51866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2708328">
            <a:off x="12319185" y="8489343"/>
            <a:ext cx="4018080" cy="3956261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2708328">
            <a:off x="16243905" y="1811602"/>
            <a:ext cx="4018080" cy="5186608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rot="2708328">
            <a:off x="-1930035" y="-2608220"/>
            <a:ext cx="4018080" cy="5186608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 rot="8231041">
            <a:off x="13216914" y="-2949524"/>
            <a:ext cx="3889773" cy="12559257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12" b="-529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 rot="-2468074">
            <a:off x="13858621" y="4724128"/>
            <a:ext cx="8739806" cy="5505414"/>
            <a:chOff x="0" y="-47625"/>
            <a:chExt cx="2301842" cy="1449986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2301842" cy="1402361"/>
            </a:xfrm>
            <a:custGeom>
              <a:avLst/>
              <a:gdLst/>
              <a:ahLst/>
              <a:cxnLst/>
              <a:rect l="l" t="t" r="r" b="b"/>
              <a:pathLst>
                <a:path w="2301842" h="1402361" extrusionOk="0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 rot="-2468074">
            <a:off x="15372766" y="6211268"/>
            <a:ext cx="4609127" cy="5054368"/>
            <a:chOff x="0" y="-47625"/>
            <a:chExt cx="1213926" cy="1331192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213926" cy="1283567"/>
            </a:xfrm>
            <a:custGeom>
              <a:avLst/>
              <a:gdLst/>
              <a:ahLst/>
              <a:cxnLst/>
              <a:rect l="l" t="t" r="r" b="b"/>
              <a:pathLst>
                <a:path w="1213926" h="1283567" extrusionOk="0">
                  <a:moveTo>
                    <a:pt x="0" y="0"/>
                  </a:moveTo>
                  <a:lnTo>
                    <a:pt x="1213926" y="0"/>
                  </a:lnTo>
                  <a:lnTo>
                    <a:pt x="1213926" y="1283567"/>
                  </a:lnTo>
                  <a:lnTo>
                    <a:pt x="0" y="1283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47625"/>
              <a:ext cx="1213926" cy="1331192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0977613" y="0"/>
            <a:ext cx="7310387" cy="8224186"/>
            <a:chOff x="0" y="0"/>
            <a:chExt cx="5370413" cy="6041715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 extrusionOk="0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 extrusionOk="0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 rot="2694003">
            <a:off x="-4438949" y="6839950"/>
            <a:ext cx="8739806" cy="5505414"/>
            <a:chOff x="0" y="-47625"/>
            <a:chExt cx="2301842" cy="1449986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2301842" cy="1402361"/>
            </a:xfrm>
            <a:custGeom>
              <a:avLst/>
              <a:gdLst/>
              <a:ahLst/>
              <a:cxnLst/>
              <a:rect l="l" t="t" r="r" b="b"/>
              <a:pathLst>
                <a:path w="2301842" h="1402361" extrusionOk="0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7949207" y="2313370"/>
            <a:ext cx="7669800" cy="6284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Aprendizaje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utomático</a:t>
            </a:r>
            <a:endParaRPr lang="en-US" sz="24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-Andrés Martin Cantos Rivadeneira</a:t>
            </a:r>
            <a:endParaRPr sz="21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-Andrea Fernanda Moran Vargas</a:t>
            </a:r>
            <a:endParaRPr sz="21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-María Paola Mendoza Mendieta</a:t>
            </a:r>
            <a:endParaRPr sz="21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-Pedro Jose Vidal Orus</a:t>
            </a:r>
            <a:endParaRPr sz="21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técnica mediante SVM, Árboles de Decisión y </a:t>
            </a:r>
            <a:r>
              <a:rPr lang="es-ES" sz="24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</a:t>
            </a:r>
            <a:r>
              <a:rPr lang="es-ES" sz="24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Forest</a:t>
            </a:r>
          </a:p>
          <a:p>
            <a:pPr marL="0" marR="0" lvl="0" indent="0" algn="l" rtl="0">
              <a:lnSpc>
                <a:spcPct val="199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lang="es-ES" sz="2899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2899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99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</a:t>
            </a:r>
            <a:r>
              <a:rPr lang="en-US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a. Gladys Villegas Rugel</a:t>
            </a:r>
            <a:endParaRPr sz="24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99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 de mayo del 2025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3335389" y="542335"/>
            <a:ext cx="5073845" cy="130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0"/>
              <a:buFont typeface="Arial"/>
              <a:buNone/>
            </a:pPr>
            <a:r>
              <a:rPr lang="en-US" sz="708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Semana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2668993" y="2313370"/>
            <a:ext cx="4764600" cy="62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 de la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 de la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tarea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Grupo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 del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Profesor</a:t>
            </a: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Fecha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 rot="10800000">
            <a:off x="7433600" y="2409875"/>
            <a:ext cx="0" cy="6089400"/>
          </a:xfrm>
          <a:prstGeom prst="straightConnector1">
            <a:avLst/>
          </a:prstGeom>
          <a:noFill/>
          <a:ln w="38100" cap="flat" cmpd="sng">
            <a:solidFill>
              <a:srgbClr val="052A4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1701726" y="698446"/>
            <a:ext cx="12876424" cy="2614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0"/>
              <a:buFont typeface="Arial"/>
              <a:buNone/>
            </a:pPr>
            <a:r>
              <a:rPr lang="en-US" sz="708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Spotify Tracks Dataset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80"/>
              <a:buFont typeface="Arial"/>
              <a:buNone/>
            </a:pPr>
            <a:endParaRPr lang="en-US" sz="708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6331878" y="4509115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-1371921" y="-634385"/>
            <a:ext cx="2743842" cy="5383177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7185844" y="-190500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7362308" y="499311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4711389" y="7425489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3"/>
          <p:cNvGrpSpPr/>
          <p:nvPr/>
        </p:nvGrpSpPr>
        <p:grpSpPr>
          <a:xfrm>
            <a:off x="2180473" y="2731118"/>
            <a:ext cx="3844612" cy="579955"/>
            <a:chOff x="0" y="-19050"/>
            <a:chExt cx="812800" cy="152745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lang="en-US" sz="2199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CARACTERISTICAS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7200380" y="2726268"/>
            <a:ext cx="3844612" cy="579955"/>
            <a:chOff x="0" y="-19050"/>
            <a:chExt cx="812800" cy="152745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VARIABLES CATEGORICAS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11965372" y="2726269"/>
            <a:ext cx="3844800" cy="579955"/>
            <a:chOff x="0" y="-19050"/>
            <a:chExt cx="812800" cy="152745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lang="en-US" sz="2199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VARIABLES NÚMERICAS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2180473" y="3446162"/>
            <a:ext cx="3976483" cy="318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None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*Conjunto de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pistas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 Spotify de 125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géneros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diferentes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marR="0" lvl="0" indent="0" algn="just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None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marR="0" lvl="0" indent="0" algn="just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None/>
            </a:pPr>
            <a:r>
              <a:rPr lang="en-US" sz="184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Cada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pista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tiene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 audio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asociadas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  <a:p>
            <a:pPr marL="0" marR="0" lvl="0" indent="0" algn="just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None/>
            </a:pPr>
            <a:endParaRPr lang="en-US" sz="1849" dirty="0">
              <a:solidFill>
                <a:srgbClr val="2A2E3A"/>
              </a:solidFill>
              <a:latin typeface="Montserrat"/>
              <a:sym typeface="Montserrat"/>
            </a:endParaRPr>
          </a:p>
          <a:p>
            <a:pPr marL="0" marR="0" lvl="0" indent="0" algn="just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None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Arial"/>
                <a:cs typeface="Arial"/>
                <a:sym typeface="Montserrat"/>
              </a:rPr>
              <a:t>* De 114000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Arial"/>
                <a:cs typeface="Arial"/>
                <a:sym typeface="Montserrat"/>
              </a:rPr>
              <a:t>filas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Arial"/>
                <a:cs typeface="Arial"/>
                <a:sym typeface="Montserrat"/>
              </a:rPr>
              <a:t> del dataset, se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Arial"/>
                <a:cs typeface="Arial"/>
                <a:sym typeface="Montserrat"/>
              </a:rPr>
              <a:t>seleccionan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Arial"/>
                <a:cs typeface="Arial"/>
                <a:sym typeface="Montserrat"/>
              </a:rPr>
              <a:t> 5000 para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Arial"/>
                <a:cs typeface="Arial"/>
                <a:sym typeface="Montserrat"/>
              </a:rPr>
              <a:t>pruebas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Arial"/>
                <a:cs typeface="Arial"/>
                <a:sym typeface="Montserrat"/>
              </a:rPr>
              <a:t>.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7943567" y="3446162"/>
            <a:ext cx="2670630" cy="199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AutoNum type="arabicPeriod"/>
            </a:pPr>
            <a:r>
              <a:rPr lang="en-US" sz="184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rtists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album_name</a:t>
            </a:r>
            <a:endParaRPr lang="en-US" sz="1849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AutoNum type="arabicPeriod"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track_name</a:t>
            </a:r>
            <a:endParaRPr lang="en-US" sz="1849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Explicit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AutoNum type="arabicPeriod"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track_genre</a:t>
            </a:r>
            <a:endParaRPr lang="en-US" sz="1849" b="0" i="0" u="none" strike="noStrike" cap="none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3029524" y="3446162"/>
            <a:ext cx="3516056" cy="5577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popularity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duration_ms</a:t>
            </a:r>
            <a:endParaRPr lang="en-US" sz="1849" b="0" i="0" u="none" strike="noStrike" cap="none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danceability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energy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key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loudness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mode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speechiness</a:t>
            </a:r>
            <a:endParaRPr lang="en-US" sz="1849" b="0" i="0" u="none" strike="noStrike" cap="none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acousticness</a:t>
            </a:r>
            <a:endParaRPr lang="en-US" sz="1849" b="0" i="0" u="none" strike="noStrike" cap="none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instrumentalness</a:t>
            </a:r>
            <a:endParaRPr lang="en-US" sz="1849" b="0" i="0" u="none" strike="noStrike" cap="none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liveness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valence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tempo</a:t>
            </a:r>
          </a:p>
          <a:p>
            <a:pPr marL="457200" marR="0" lvl="0" indent="-45720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+mj-lt"/>
              <a:buAutoNum type="arabicPeriod"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time_signature</a:t>
            </a:r>
            <a:endParaRPr lang="en-US" sz="1849" b="0" i="0" u="none" strike="noStrike" cap="none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90;p1">
            <a:extLst>
              <a:ext uri="{FF2B5EF4-FFF2-40B4-BE49-F238E27FC236}">
                <a16:creationId xmlns:a16="http://schemas.microsoft.com/office/drawing/2014/main" id="{AAE765DF-7DB4-061A-2AF3-4A09DA97B91D}"/>
              </a:ext>
            </a:extLst>
          </p:cNvPr>
          <p:cNvSpPr/>
          <p:nvPr/>
        </p:nvSpPr>
        <p:spPr>
          <a:xfrm>
            <a:off x="20962" y="9064510"/>
            <a:ext cx="6208459" cy="1619134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s-ES" sz="24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Al final quedaron 18 variables Y 1 CLASE O VARIABLE OBJETIVO (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track_genre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)</a:t>
            </a:r>
          </a:p>
          <a:p>
            <a:pPr>
              <a:buNone/>
            </a:pPr>
            <a:br>
              <a:rPr lang="es-ES" sz="2400" b="0" i="0" dirty="0">
                <a:solidFill>
                  <a:srgbClr val="1F2328"/>
                </a:solidFill>
                <a:effectLst/>
                <a:latin typeface="-apple-system"/>
              </a:rPr>
            </a:b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689C2D-DDE1-3369-CE99-994CA03C7A95}"/>
              </a:ext>
            </a:extLst>
          </p:cNvPr>
          <p:cNvSpPr txBox="1"/>
          <p:nvPr/>
        </p:nvSpPr>
        <p:spPr>
          <a:xfrm>
            <a:off x="20961" y="8533577"/>
            <a:ext cx="3155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Importante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es-ES" sz="2800" dirty="0"/>
          </a:p>
        </p:txBody>
      </p:sp>
      <p:grpSp>
        <p:nvGrpSpPr>
          <p:cNvPr id="2" name="Google Shape;123;p3">
            <a:extLst>
              <a:ext uri="{FF2B5EF4-FFF2-40B4-BE49-F238E27FC236}">
                <a16:creationId xmlns:a16="http://schemas.microsoft.com/office/drawing/2014/main" id="{B1136A8B-1B0D-890B-0DC3-5547CAA90524}"/>
              </a:ext>
            </a:extLst>
          </p:cNvPr>
          <p:cNvGrpSpPr/>
          <p:nvPr/>
        </p:nvGrpSpPr>
        <p:grpSpPr>
          <a:xfrm>
            <a:off x="7200380" y="6427368"/>
            <a:ext cx="3844612" cy="579955"/>
            <a:chOff x="0" y="-19050"/>
            <a:chExt cx="812800" cy="152745"/>
          </a:xfrm>
        </p:grpSpPr>
        <p:sp>
          <p:nvSpPr>
            <p:cNvPr id="3" name="Google Shape;124;p3">
              <a:extLst>
                <a:ext uri="{FF2B5EF4-FFF2-40B4-BE49-F238E27FC236}">
                  <a16:creationId xmlns:a16="http://schemas.microsoft.com/office/drawing/2014/main" id="{57202E80-4075-45A9-ACCA-98F496E17EC1}"/>
                </a:ext>
              </a:extLst>
            </p:cNvPr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25;p3">
              <a:extLst>
                <a:ext uri="{FF2B5EF4-FFF2-40B4-BE49-F238E27FC236}">
                  <a16:creationId xmlns:a16="http://schemas.microsoft.com/office/drawing/2014/main" id="{A704E24E-9C9F-ADF3-B1CF-239248E44D63}"/>
                </a:ext>
              </a:extLst>
            </p:cNvPr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lang="en-US" sz="2199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OBJETIVO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Google Shape;135;p3">
            <a:extLst>
              <a:ext uri="{FF2B5EF4-FFF2-40B4-BE49-F238E27FC236}">
                <a16:creationId xmlns:a16="http://schemas.microsoft.com/office/drawing/2014/main" id="{9A59D0C7-E84A-967A-8944-BE7AFDB4A88D}"/>
              </a:ext>
            </a:extLst>
          </p:cNvPr>
          <p:cNvSpPr txBox="1"/>
          <p:nvPr/>
        </p:nvSpPr>
        <p:spPr>
          <a:xfrm>
            <a:off x="7290640" y="7425489"/>
            <a:ext cx="3976483" cy="199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None/>
            </a:pP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Predecir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Género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track_genre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 de un track o canción a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partir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 sus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técnicas</a:t>
            </a:r>
            <a:r>
              <a:rPr lang="en-US" sz="184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marR="0" lvl="0" indent="0" algn="just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9"/>
              <a:buFont typeface="Arial"/>
              <a:buNone/>
            </a:pPr>
            <a:r>
              <a:rPr lang="en-US" sz="1849" b="0" i="0" u="none" strike="noStrike" cap="none" dirty="0" err="1">
                <a:solidFill>
                  <a:srgbClr val="2A2E3A"/>
                </a:solidFill>
                <a:latin typeface="Montserrat"/>
                <a:sym typeface="Montserrat"/>
              </a:rPr>
              <a:t>Ejemplo</a:t>
            </a:r>
            <a:r>
              <a:rPr lang="en-US" sz="1849" b="0" i="0" u="none" strike="noStrike" cap="none" dirty="0">
                <a:solidFill>
                  <a:srgbClr val="2A2E3A"/>
                </a:solidFill>
                <a:latin typeface="Montserrat"/>
                <a:sym typeface="Montserrat"/>
              </a:rPr>
              <a:t>: Alt</a:t>
            </a:r>
            <a:r>
              <a:rPr lang="en-US" sz="1849" dirty="0">
                <a:solidFill>
                  <a:srgbClr val="2A2E3A"/>
                </a:solidFill>
                <a:latin typeface="Montserrat"/>
                <a:sym typeface="Montserrat"/>
              </a:rPr>
              <a:t>-rock, ambient, acoustic, alternative, </a:t>
            </a:r>
            <a:r>
              <a:rPr lang="en-US" sz="1849" dirty="0" err="1">
                <a:solidFill>
                  <a:srgbClr val="2A2E3A"/>
                </a:solidFill>
                <a:latin typeface="Montserrat"/>
                <a:sym typeface="Montserrat"/>
              </a:rPr>
              <a:t>etc</a:t>
            </a:r>
            <a:r>
              <a:rPr lang="en-US" sz="1849" dirty="0">
                <a:solidFill>
                  <a:srgbClr val="2A2E3A"/>
                </a:solidFill>
                <a:latin typeface="Montserrat"/>
                <a:sym typeface="Montserrat"/>
              </a:rPr>
              <a:t>…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74a4183d5_2_0"/>
          <p:cNvSpPr/>
          <p:nvPr/>
        </p:nvSpPr>
        <p:spPr>
          <a:xfrm>
            <a:off x="10524229" y="4765939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d74a4183d5_2_0"/>
          <p:cNvSpPr txBox="1"/>
          <p:nvPr/>
        </p:nvSpPr>
        <p:spPr>
          <a:xfrm>
            <a:off x="13314116" y="5557390"/>
            <a:ext cx="4973884" cy="35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46"/>
              <a:buFont typeface="Arial"/>
              <a:buNone/>
            </a:pPr>
            <a:r>
              <a:rPr lang="en-US" sz="6346" b="1" dirty="0" err="1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Modelo</a:t>
            </a:r>
            <a:r>
              <a:rPr lang="en-US" sz="6346" b="1" dirty="0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 </a:t>
            </a:r>
          </a:p>
          <a:p>
            <a:pPr marL="0" marR="0" lvl="0" indent="0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46"/>
              <a:buFont typeface="Arial"/>
              <a:buNone/>
            </a:pPr>
            <a:r>
              <a:rPr lang="en-US" sz="6346" b="1" dirty="0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Árbol de </a:t>
            </a:r>
            <a:r>
              <a:rPr lang="en-US" sz="6346" b="1" dirty="0" err="1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Decisión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2d74a4183d5_2_0"/>
          <p:cNvSpPr txBox="1"/>
          <p:nvPr/>
        </p:nvSpPr>
        <p:spPr>
          <a:xfrm>
            <a:off x="1781013" y="84074"/>
            <a:ext cx="1731000" cy="1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lang="en-US" sz="975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400" b="0" i="0" u="none" strike="noStrike" cap="none" dirty="0">
              <a:solidFill>
                <a:srgbClr val="7916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d74a4183d5_2_0"/>
          <p:cNvSpPr txBox="1"/>
          <p:nvPr/>
        </p:nvSpPr>
        <p:spPr>
          <a:xfrm>
            <a:off x="3825302" y="641755"/>
            <a:ext cx="13397853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La diagonal muestra los aciertos, mientras que las otras celdas revelan errores de clasificación entre géneros como acústico,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afrobeat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alt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-rock, alternative y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ambient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algn="l">
              <a:spcAft>
                <a:spcPts val="1200"/>
              </a:spcAft>
            </a:pPr>
            <a:endParaRPr lang="es-ES" sz="2400" i="0" dirty="0">
              <a:solidFill>
                <a:srgbClr val="1F2328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65" name="Google Shape;165;g2d74a4183d5_2_0"/>
          <p:cNvSpPr/>
          <p:nvPr/>
        </p:nvSpPr>
        <p:spPr>
          <a:xfrm>
            <a:off x="200924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d74a4183d5_2_0"/>
          <p:cNvSpPr/>
          <p:nvPr/>
        </p:nvSpPr>
        <p:spPr>
          <a:xfrm>
            <a:off x="1066372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A014CD-AB93-4522-95D5-C3F8F051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5699"/>
            <a:ext cx="7895723" cy="701544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35EBDFB-1025-8814-8DD4-9A853A1CDE61}"/>
              </a:ext>
            </a:extLst>
          </p:cNvPr>
          <p:cNvSpPr txBox="1"/>
          <p:nvPr/>
        </p:nvSpPr>
        <p:spPr>
          <a:xfrm>
            <a:off x="7882062" y="5610656"/>
            <a:ext cx="480155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La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profundidad máxima 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del árbol seleccionada es 10. Esto significa que el árbol no tendrá más de 10 niveles de profundidad, lo cual ayuda a evitar el sobreajuste.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1F232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Se utilizó </a:t>
            </a:r>
            <a:r>
              <a:rPr lang="es-ES" sz="2400" b="1" dirty="0" err="1">
                <a:solidFill>
                  <a:srgbClr val="1F232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criterion</a:t>
            </a:r>
            <a:r>
              <a:rPr lang="es-ES" sz="2400" b="1" dirty="0">
                <a:solidFill>
                  <a:srgbClr val="1F232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 = </a:t>
            </a:r>
            <a:r>
              <a:rPr lang="es-ES" sz="2400" b="1" dirty="0" err="1">
                <a:solidFill>
                  <a:srgbClr val="1F232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entropy</a:t>
            </a:r>
            <a:endParaRPr lang="es-ES" sz="2400" b="1" dirty="0">
              <a:solidFill>
                <a:srgbClr val="1F2328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8591CF2-CA80-D21D-075C-A3E6CC5CF612}"/>
              </a:ext>
            </a:extLst>
          </p:cNvPr>
          <p:cNvSpPr txBox="1"/>
          <p:nvPr/>
        </p:nvSpPr>
        <p:spPr>
          <a:xfrm>
            <a:off x="7882062" y="2057527"/>
            <a:ext cx="9141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El árbol de decisión tiene una precisión de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70.18%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, con un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recall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de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68.5%, 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lo que indica que captura correctamente la mayoría de las instancias positivas. Su F1-score de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69.04% 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refleja un balance entre precisión y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recall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, mostrando un desempeño sólido pero con margen de mejora en la clasificación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C1B2FC1-D637-6C3D-8460-76D5C88C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74a4183d5_2_0">
            <a:extLst>
              <a:ext uri="{FF2B5EF4-FFF2-40B4-BE49-F238E27FC236}">
                <a16:creationId xmlns:a16="http://schemas.microsoft.com/office/drawing/2014/main" id="{D2022D2D-EE82-E738-64E0-A0D1C9945538}"/>
              </a:ext>
            </a:extLst>
          </p:cNvPr>
          <p:cNvSpPr/>
          <p:nvPr/>
        </p:nvSpPr>
        <p:spPr>
          <a:xfrm>
            <a:off x="10524229" y="4765939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d74a4183d5_2_0">
            <a:extLst>
              <a:ext uri="{FF2B5EF4-FFF2-40B4-BE49-F238E27FC236}">
                <a16:creationId xmlns:a16="http://schemas.microsoft.com/office/drawing/2014/main" id="{D21EE8B8-42CF-320A-D5C7-206896B86E88}"/>
              </a:ext>
            </a:extLst>
          </p:cNvPr>
          <p:cNvSpPr txBox="1"/>
          <p:nvPr/>
        </p:nvSpPr>
        <p:spPr>
          <a:xfrm>
            <a:off x="13314116" y="5557390"/>
            <a:ext cx="4973884" cy="234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46"/>
              <a:buFont typeface="Arial"/>
              <a:buNone/>
            </a:pPr>
            <a:r>
              <a:rPr lang="en-US" sz="6346" b="1" dirty="0" err="1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Modelo</a:t>
            </a:r>
            <a:r>
              <a:rPr lang="en-US" sz="6346" b="1" dirty="0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 </a:t>
            </a:r>
          </a:p>
          <a:p>
            <a:pPr marL="0" marR="0" lvl="0" indent="0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46"/>
              <a:buFont typeface="Arial"/>
              <a:buNone/>
            </a:pPr>
            <a:r>
              <a:rPr lang="en-US" sz="6346" b="1" i="0" u="none" strike="noStrike" cap="none" dirty="0">
                <a:solidFill>
                  <a:schemeClr val="bg1"/>
                </a:solidFill>
                <a:latin typeface="Montserrat"/>
                <a:sym typeface="Montserrat"/>
              </a:rPr>
              <a:t>SVM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2d74a4183d5_2_0">
            <a:extLst>
              <a:ext uri="{FF2B5EF4-FFF2-40B4-BE49-F238E27FC236}">
                <a16:creationId xmlns:a16="http://schemas.microsoft.com/office/drawing/2014/main" id="{4E139EE1-6195-9EF9-D90B-71B1E89297BB}"/>
              </a:ext>
            </a:extLst>
          </p:cNvPr>
          <p:cNvSpPr txBox="1"/>
          <p:nvPr/>
        </p:nvSpPr>
        <p:spPr>
          <a:xfrm>
            <a:off x="1869502" y="0"/>
            <a:ext cx="1731000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lang="en-US" sz="975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400" b="0" i="0" u="none" strike="noStrike" cap="none" dirty="0">
              <a:solidFill>
                <a:srgbClr val="7916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d74a4183d5_2_0">
            <a:extLst>
              <a:ext uri="{FF2B5EF4-FFF2-40B4-BE49-F238E27FC236}">
                <a16:creationId xmlns:a16="http://schemas.microsoft.com/office/drawing/2014/main" id="{38AE3E0F-3084-E156-3F84-C8A81F14916D}"/>
              </a:ext>
            </a:extLst>
          </p:cNvPr>
          <p:cNvSpPr txBox="1"/>
          <p:nvPr/>
        </p:nvSpPr>
        <p:spPr>
          <a:xfrm>
            <a:off x="3825302" y="641755"/>
            <a:ext cx="13397853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Esta matriz de confusión del Modelo (SVM) revela que el modelo tiene una buena capacidad para clasificar géneros como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afrobeat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y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acoustic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, con altas tasas de aciertos en la diagonal principal. Cada fila representa 200 datos, lo que permite evaluar el desempeño del modelo en diferentes clases.</a:t>
            </a:r>
          </a:p>
          <a:p>
            <a:pPr algn="l">
              <a:spcAft>
                <a:spcPts val="1200"/>
              </a:spcAft>
            </a:pPr>
            <a:endParaRPr lang="es-ES" sz="2400" i="0" dirty="0">
              <a:solidFill>
                <a:srgbClr val="1F2328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65" name="Google Shape;165;g2d74a4183d5_2_0">
            <a:extLst>
              <a:ext uri="{FF2B5EF4-FFF2-40B4-BE49-F238E27FC236}">
                <a16:creationId xmlns:a16="http://schemas.microsoft.com/office/drawing/2014/main" id="{5FDA784C-494E-FA7F-31B1-1E64F21893E4}"/>
              </a:ext>
            </a:extLst>
          </p:cNvPr>
          <p:cNvSpPr/>
          <p:nvPr/>
        </p:nvSpPr>
        <p:spPr>
          <a:xfrm>
            <a:off x="200924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d74a4183d5_2_0">
            <a:extLst>
              <a:ext uri="{FF2B5EF4-FFF2-40B4-BE49-F238E27FC236}">
                <a16:creationId xmlns:a16="http://schemas.microsoft.com/office/drawing/2014/main" id="{8AC86544-F7F2-46E1-AC88-3CB0BB4B3284}"/>
              </a:ext>
            </a:extLst>
          </p:cNvPr>
          <p:cNvSpPr/>
          <p:nvPr/>
        </p:nvSpPr>
        <p:spPr>
          <a:xfrm>
            <a:off x="1066372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FD388D-BBFA-A950-CE66-6A00A93F9EA5}"/>
              </a:ext>
            </a:extLst>
          </p:cNvPr>
          <p:cNvSpPr txBox="1"/>
          <p:nvPr/>
        </p:nvSpPr>
        <p:spPr>
          <a:xfrm>
            <a:off x="7763772" y="5557390"/>
            <a:ext cx="4757609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El modelo empleó</a:t>
            </a:r>
            <a:r>
              <a:rPr lang="es-ES" sz="2400" b="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C = 10 </a:t>
            </a:r>
            <a:r>
              <a:rPr lang="es-ES" sz="240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 un </a:t>
            </a:r>
            <a:r>
              <a:rPr lang="es-ES" sz="2400" b="1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kernel</a:t>
            </a:r>
            <a:r>
              <a:rPr lang="es-ES" sz="2400" b="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lineal</a:t>
            </a:r>
            <a:r>
              <a:rPr lang="es-ES" sz="240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logrando una precisión del </a:t>
            </a:r>
            <a:r>
              <a:rPr lang="es-ES" sz="2400" b="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67%</a:t>
            </a:r>
            <a:r>
              <a:rPr lang="es-ES" sz="240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mientras que el </a:t>
            </a:r>
            <a:r>
              <a:rPr lang="es-ES" sz="2400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kernel</a:t>
            </a:r>
            <a:r>
              <a:rPr lang="es-ES" sz="240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RBF no superó el 62%, lo que justificó la elección del enfoque lineal.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ACC2F3B-041B-BADC-EC73-8E78905D462C}"/>
              </a:ext>
            </a:extLst>
          </p:cNvPr>
          <p:cNvSpPr txBox="1"/>
          <p:nvPr/>
        </p:nvSpPr>
        <p:spPr>
          <a:xfrm>
            <a:off x="7763772" y="2807175"/>
            <a:ext cx="91415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El modelo SVM tiene una precisión y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recall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del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67%, 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lo que indica un desempeño consistente en la clasificación. Su F1-score de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69.16% 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refleja un buen equilibrio, aunque aún hay oportunidades de mejora.</a:t>
            </a:r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6249F2C0-46E9-561E-935A-B2D1EA09D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5" y="2796191"/>
            <a:ext cx="7453014" cy="655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8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B1FABEF-00A7-CC1E-4CF1-A4E3A778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74a4183d5_2_0">
            <a:extLst>
              <a:ext uri="{FF2B5EF4-FFF2-40B4-BE49-F238E27FC236}">
                <a16:creationId xmlns:a16="http://schemas.microsoft.com/office/drawing/2014/main" id="{E82A0B03-EA32-354B-BCE9-FE745E943D17}"/>
              </a:ext>
            </a:extLst>
          </p:cNvPr>
          <p:cNvSpPr/>
          <p:nvPr/>
        </p:nvSpPr>
        <p:spPr>
          <a:xfrm>
            <a:off x="10524229" y="4765939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d74a4183d5_2_0">
            <a:extLst>
              <a:ext uri="{FF2B5EF4-FFF2-40B4-BE49-F238E27FC236}">
                <a16:creationId xmlns:a16="http://schemas.microsoft.com/office/drawing/2014/main" id="{FB3EFDF9-6354-BBE5-34D7-4CDC5FA5B8E2}"/>
              </a:ext>
            </a:extLst>
          </p:cNvPr>
          <p:cNvSpPr txBox="1"/>
          <p:nvPr/>
        </p:nvSpPr>
        <p:spPr>
          <a:xfrm>
            <a:off x="13314116" y="5557390"/>
            <a:ext cx="4973884" cy="35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46"/>
              <a:buFont typeface="Arial"/>
              <a:buNone/>
            </a:pPr>
            <a:r>
              <a:rPr lang="en-US" sz="6346" b="1" dirty="0" err="1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Modelo</a:t>
            </a:r>
            <a:r>
              <a:rPr lang="en-US" sz="6346" b="1" dirty="0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 </a:t>
            </a:r>
          </a:p>
          <a:p>
            <a:pPr marL="0" marR="0" lvl="0" indent="0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46"/>
              <a:buFont typeface="Arial"/>
              <a:buNone/>
            </a:pPr>
            <a:r>
              <a:rPr lang="en-US" sz="6346" b="1" dirty="0">
                <a:solidFill>
                  <a:schemeClr val="bg1"/>
                </a:solidFill>
                <a:latin typeface="Montserrat"/>
                <a:ea typeface="Arial"/>
                <a:cs typeface="Arial"/>
                <a:sym typeface="Montserrat"/>
              </a:rPr>
              <a:t>Random Forest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2d74a4183d5_2_0">
            <a:extLst>
              <a:ext uri="{FF2B5EF4-FFF2-40B4-BE49-F238E27FC236}">
                <a16:creationId xmlns:a16="http://schemas.microsoft.com/office/drawing/2014/main" id="{0416F79F-AA21-F234-EA6A-652614D51B5D}"/>
              </a:ext>
            </a:extLst>
          </p:cNvPr>
          <p:cNvSpPr txBox="1"/>
          <p:nvPr/>
        </p:nvSpPr>
        <p:spPr>
          <a:xfrm>
            <a:off x="1869502" y="0"/>
            <a:ext cx="1731000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lang="en-US" sz="975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-US" sz="9750" b="1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400" b="0" i="0" u="none" strike="noStrike" cap="none" dirty="0">
              <a:solidFill>
                <a:srgbClr val="7916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d74a4183d5_2_0">
            <a:extLst>
              <a:ext uri="{FF2B5EF4-FFF2-40B4-BE49-F238E27FC236}">
                <a16:creationId xmlns:a16="http://schemas.microsoft.com/office/drawing/2014/main" id="{BF955ABC-C46A-7E70-56D4-0A864815293F}"/>
              </a:ext>
            </a:extLst>
          </p:cNvPr>
          <p:cNvSpPr txBox="1"/>
          <p:nvPr/>
        </p:nvSpPr>
        <p:spPr>
          <a:xfrm>
            <a:off x="3825302" y="540040"/>
            <a:ext cx="13397853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El modelo tiene buenos resultados en la clasificación de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acoustic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, con 171 predicciones correctas, aunque presenta confusiones con géneros como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alt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-rock y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ambient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. La coloración indica la concentración de aciertos y errores, con verdes para valores más altos y púrpuras para más bajos.</a:t>
            </a:r>
          </a:p>
        </p:txBody>
      </p:sp>
      <p:sp>
        <p:nvSpPr>
          <p:cNvPr id="165" name="Google Shape;165;g2d74a4183d5_2_0">
            <a:extLst>
              <a:ext uri="{FF2B5EF4-FFF2-40B4-BE49-F238E27FC236}">
                <a16:creationId xmlns:a16="http://schemas.microsoft.com/office/drawing/2014/main" id="{7F790F78-2B5E-6D2B-BA8B-4AF7C1D1B068}"/>
              </a:ext>
            </a:extLst>
          </p:cNvPr>
          <p:cNvSpPr/>
          <p:nvPr/>
        </p:nvSpPr>
        <p:spPr>
          <a:xfrm>
            <a:off x="200924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d74a4183d5_2_0">
            <a:extLst>
              <a:ext uri="{FF2B5EF4-FFF2-40B4-BE49-F238E27FC236}">
                <a16:creationId xmlns:a16="http://schemas.microsoft.com/office/drawing/2014/main" id="{C212506B-D552-9998-C3E1-36D56938F02B}"/>
              </a:ext>
            </a:extLst>
          </p:cNvPr>
          <p:cNvSpPr/>
          <p:nvPr/>
        </p:nvSpPr>
        <p:spPr>
          <a:xfrm>
            <a:off x="1066372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F292B7-BE31-8204-F1B7-290DC2DFB5DD}"/>
              </a:ext>
            </a:extLst>
          </p:cNvPr>
          <p:cNvSpPr txBox="1"/>
          <p:nvPr/>
        </p:nvSpPr>
        <p:spPr>
          <a:xfrm>
            <a:off x="7911265" y="6333327"/>
            <a:ext cx="46101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Se usaron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300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árboles para mejorar la estabilidad y reducir la varianza del modelo.</a:t>
            </a:r>
            <a:endParaRPr lang="es-ES" sz="2400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C45651D-3A33-555F-1ABA-7E2943A9DAB8}"/>
              </a:ext>
            </a:extLst>
          </p:cNvPr>
          <p:cNvSpPr txBox="1"/>
          <p:nvPr/>
        </p:nvSpPr>
        <p:spPr>
          <a:xfrm>
            <a:off x="7896517" y="2962707"/>
            <a:ext cx="90167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El modelo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Random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Forest alcanzó una precisión y </a:t>
            </a:r>
            <a:r>
              <a:rPr lang="es-ES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recall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del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70.3%, 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logrando una clasificación equilibrada. Su F1-score de </a:t>
            </a:r>
            <a:r>
              <a:rPr lang="es-ES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0.7017% </a:t>
            </a:r>
            <a:r>
              <a:rPr lang="es-ES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indica un rendimiento sólido, aunque aún hay margen para optimización.</a:t>
            </a:r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3B7EE31-61FE-5E05-3C1A-1499A3F2D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23" y="2499992"/>
            <a:ext cx="7235019" cy="63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4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g2d746ef08c1_1_50"/>
          <p:cNvGrpSpPr/>
          <p:nvPr/>
        </p:nvGrpSpPr>
        <p:grpSpPr>
          <a:xfrm>
            <a:off x="-522109" y="-2588027"/>
            <a:ext cx="19917789" cy="3266948"/>
            <a:chOff x="0" y="-47625"/>
            <a:chExt cx="5245803" cy="860425"/>
          </a:xfrm>
        </p:grpSpPr>
        <p:sp>
          <p:nvSpPr>
            <p:cNvPr id="328" name="Google Shape;328;g2d746ef08c1_1_50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2d746ef08c1_1_50"/>
            <p:cNvSpPr txBox="1"/>
            <p:nvPr/>
          </p:nvSpPr>
          <p:spPr>
            <a:xfrm>
              <a:off x="0" y="-47625"/>
              <a:ext cx="5245800" cy="860400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g2d746ef08c1_1_50"/>
          <p:cNvGrpSpPr/>
          <p:nvPr/>
        </p:nvGrpSpPr>
        <p:grpSpPr>
          <a:xfrm>
            <a:off x="-378128" y="9530823"/>
            <a:ext cx="19917789" cy="3266948"/>
            <a:chOff x="0" y="-47625"/>
            <a:chExt cx="5245803" cy="860425"/>
          </a:xfrm>
        </p:grpSpPr>
        <p:sp>
          <p:nvSpPr>
            <p:cNvPr id="331" name="Google Shape;331;g2d746ef08c1_1_50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2d746ef08c1_1_50"/>
            <p:cNvSpPr txBox="1"/>
            <p:nvPr/>
          </p:nvSpPr>
          <p:spPr>
            <a:xfrm>
              <a:off x="0" y="-47625"/>
              <a:ext cx="5245800" cy="860400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325;g2d746ef08c1_1_50">
            <a:extLst>
              <a:ext uri="{FF2B5EF4-FFF2-40B4-BE49-F238E27FC236}">
                <a16:creationId xmlns:a16="http://schemas.microsoft.com/office/drawing/2014/main" id="{FACBDE4F-F2C0-2CE8-7F50-4478DC905DD9}"/>
              </a:ext>
            </a:extLst>
          </p:cNvPr>
          <p:cNvSpPr txBox="1"/>
          <p:nvPr/>
        </p:nvSpPr>
        <p:spPr>
          <a:xfrm>
            <a:off x="1150175" y="950625"/>
            <a:ext cx="162996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69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7ABB29-F578-A99F-A16B-C203E489535C}"/>
              </a:ext>
            </a:extLst>
          </p:cNvPr>
          <p:cNvSpPr txBox="1"/>
          <p:nvPr/>
        </p:nvSpPr>
        <p:spPr>
          <a:xfrm>
            <a:off x="752166" y="2032045"/>
            <a:ext cx="10028902" cy="78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400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COMPARACIÓN EXPERIMENTAL</a:t>
            </a:r>
            <a:endParaRPr lang="es-E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3E84835-A3A7-347F-7617-9AE7BBB9A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656494"/>
              </p:ext>
            </p:extLst>
          </p:nvPr>
        </p:nvGraphicFramePr>
        <p:xfrm>
          <a:off x="752166" y="3631344"/>
          <a:ext cx="9379975" cy="250280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934931">
                  <a:extLst>
                    <a:ext uri="{9D8B030D-6E8A-4147-A177-3AD203B41FA5}">
                      <a16:colId xmlns:a16="http://schemas.microsoft.com/office/drawing/2014/main" val="1913026584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1718304067"/>
                    </a:ext>
                  </a:extLst>
                </a:gridCol>
                <a:gridCol w="2138516">
                  <a:extLst>
                    <a:ext uri="{9D8B030D-6E8A-4147-A177-3AD203B41FA5}">
                      <a16:colId xmlns:a16="http://schemas.microsoft.com/office/drawing/2014/main" val="144202934"/>
                    </a:ext>
                  </a:extLst>
                </a:gridCol>
                <a:gridCol w="2241754">
                  <a:extLst>
                    <a:ext uri="{9D8B030D-6E8A-4147-A177-3AD203B41FA5}">
                      <a16:colId xmlns:a16="http://schemas.microsoft.com/office/drawing/2014/main" val="2569657396"/>
                    </a:ext>
                  </a:extLst>
                </a:gridCol>
              </a:tblGrid>
              <a:tr h="478082">
                <a:tc>
                  <a:txBody>
                    <a:bodyPr/>
                    <a:lstStyle/>
                    <a:p>
                      <a:pPr algn="ctr"/>
                      <a:r>
                        <a:rPr lang="es-ES" sz="2800" b="1">
                          <a:solidFill>
                            <a:schemeClr val="bg1"/>
                          </a:solidFill>
                          <a:effectLst/>
                        </a:rPr>
                        <a:t>Modelo</a:t>
                      </a:r>
                    </a:p>
                  </a:txBody>
                  <a:tcPr marL="99060" marR="99060" anchor="ctr">
                    <a:solidFill>
                      <a:srgbClr val="791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>
                          <a:solidFill>
                            <a:schemeClr val="bg1"/>
                          </a:solidFill>
                          <a:effectLst/>
                        </a:rPr>
                        <a:t>Precisión</a:t>
                      </a:r>
                    </a:p>
                  </a:txBody>
                  <a:tcPr marL="99060" marR="99060" anchor="ctr">
                    <a:solidFill>
                      <a:srgbClr val="791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>
                          <a:solidFill>
                            <a:schemeClr val="bg1"/>
                          </a:solidFill>
                          <a:effectLst/>
                        </a:rPr>
                        <a:t>Recall</a:t>
                      </a:r>
                    </a:p>
                  </a:txBody>
                  <a:tcPr marL="99060" marR="99060" anchor="ctr">
                    <a:solidFill>
                      <a:srgbClr val="791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>
                          <a:solidFill>
                            <a:schemeClr val="bg1"/>
                          </a:solidFill>
                          <a:effectLst/>
                        </a:rPr>
                        <a:t>F1-score</a:t>
                      </a:r>
                    </a:p>
                  </a:txBody>
                  <a:tcPr marL="99060" marR="99060" anchor="ctr">
                    <a:solidFill>
                      <a:srgbClr val="791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307233"/>
                  </a:ext>
                </a:extLst>
              </a:tr>
              <a:tr h="651086">
                <a:tc>
                  <a:txBody>
                    <a:bodyPr/>
                    <a:lstStyle/>
                    <a:p>
                      <a:r>
                        <a:rPr lang="es-ES" sz="2400" b="1" dirty="0">
                          <a:effectLst/>
                        </a:rPr>
                        <a:t>Árbol de Decisión</a:t>
                      </a:r>
                      <a:endParaRPr lang="es-ES" sz="24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0.7018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0.6850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0.6905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585568872"/>
                  </a:ext>
                </a:extLst>
              </a:tr>
              <a:tr h="682472">
                <a:tc>
                  <a:txBody>
                    <a:bodyPr/>
                    <a:lstStyle/>
                    <a:p>
                      <a:r>
                        <a:rPr lang="es-ES" sz="2400" b="1" dirty="0">
                          <a:effectLst/>
                        </a:rPr>
                        <a:t>SVM</a:t>
                      </a:r>
                      <a:endParaRPr lang="es-ES" sz="24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effectLst/>
                        </a:rPr>
                        <a:t>0.6700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0.6700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0.6916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749219285"/>
                  </a:ext>
                </a:extLst>
              </a:tr>
              <a:tr h="651086">
                <a:tc>
                  <a:txBody>
                    <a:bodyPr/>
                    <a:lstStyle/>
                    <a:p>
                      <a:r>
                        <a:rPr lang="es-ES" sz="2400" b="1" dirty="0" err="1">
                          <a:effectLst/>
                        </a:rPr>
                        <a:t>Random</a:t>
                      </a:r>
                      <a:r>
                        <a:rPr lang="es-ES" sz="2400" b="1" dirty="0">
                          <a:effectLst/>
                        </a:rPr>
                        <a:t> Forest</a:t>
                      </a:r>
                      <a:endParaRPr lang="es-ES" sz="24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effectLst/>
                        </a:rPr>
                        <a:t>0.7030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effectLst/>
                        </a:rPr>
                        <a:t>0.7030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effectLst/>
                        </a:rPr>
                        <a:t>0.7017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628029340"/>
                  </a:ext>
                </a:extLst>
              </a:tr>
            </a:tbl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5C954A3C-E749-AE42-D743-3C09A7C00D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1563918"/>
              </p:ext>
            </p:extLst>
          </p:nvPr>
        </p:nvGraphicFramePr>
        <p:xfrm>
          <a:off x="9580761" y="950625"/>
          <a:ext cx="8499987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78654BBB-7649-C429-E3D3-51F31242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g2d746ef08c1_1_50">
            <a:extLst>
              <a:ext uri="{FF2B5EF4-FFF2-40B4-BE49-F238E27FC236}">
                <a16:creationId xmlns:a16="http://schemas.microsoft.com/office/drawing/2014/main" id="{FEFA7104-A58E-E7A7-AA10-BB05170FC49C}"/>
              </a:ext>
            </a:extLst>
          </p:cNvPr>
          <p:cNvGrpSpPr/>
          <p:nvPr/>
        </p:nvGrpSpPr>
        <p:grpSpPr>
          <a:xfrm>
            <a:off x="-522109" y="-2588027"/>
            <a:ext cx="19917789" cy="3266948"/>
            <a:chOff x="0" y="-47625"/>
            <a:chExt cx="5245803" cy="860425"/>
          </a:xfrm>
        </p:grpSpPr>
        <p:sp>
          <p:nvSpPr>
            <p:cNvPr id="328" name="Google Shape;328;g2d746ef08c1_1_50">
              <a:extLst>
                <a:ext uri="{FF2B5EF4-FFF2-40B4-BE49-F238E27FC236}">
                  <a16:creationId xmlns:a16="http://schemas.microsoft.com/office/drawing/2014/main" id="{0D5248F4-FF8D-1D3C-B133-49486B77FE50}"/>
                </a:ext>
              </a:extLst>
            </p:cNvPr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2d746ef08c1_1_50">
              <a:extLst>
                <a:ext uri="{FF2B5EF4-FFF2-40B4-BE49-F238E27FC236}">
                  <a16:creationId xmlns:a16="http://schemas.microsoft.com/office/drawing/2014/main" id="{23555627-7F52-DB3A-31AF-44AECBB8A590}"/>
                </a:ext>
              </a:extLst>
            </p:cNvPr>
            <p:cNvSpPr txBox="1"/>
            <p:nvPr/>
          </p:nvSpPr>
          <p:spPr>
            <a:xfrm>
              <a:off x="0" y="-47625"/>
              <a:ext cx="5245800" cy="860400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g2d746ef08c1_1_50">
            <a:extLst>
              <a:ext uri="{FF2B5EF4-FFF2-40B4-BE49-F238E27FC236}">
                <a16:creationId xmlns:a16="http://schemas.microsoft.com/office/drawing/2014/main" id="{F10D7DB9-9AB4-66D5-3B4E-EA4EFC5CF0C9}"/>
              </a:ext>
            </a:extLst>
          </p:cNvPr>
          <p:cNvGrpSpPr/>
          <p:nvPr/>
        </p:nvGrpSpPr>
        <p:grpSpPr>
          <a:xfrm>
            <a:off x="-378128" y="9530823"/>
            <a:ext cx="19917789" cy="3266948"/>
            <a:chOff x="0" y="-47625"/>
            <a:chExt cx="5245803" cy="860425"/>
          </a:xfrm>
        </p:grpSpPr>
        <p:sp>
          <p:nvSpPr>
            <p:cNvPr id="331" name="Google Shape;331;g2d746ef08c1_1_50">
              <a:extLst>
                <a:ext uri="{FF2B5EF4-FFF2-40B4-BE49-F238E27FC236}">
                  <a16:creationId xmlns:a16="http://schemas.microsoft.com/office/drawing/2014/main" id="{27594BF2-DBDF-348F-5C30-D6873E69AD98}"/>
                </a:ext>
              </a:extLst>
            </p:cNvPr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2d746ef08c1_1_50">
              <a:extLst>
                <a:ext uri="{FF2B5EF4-FFF2-40B4-BE49-F238E27FC236}">
                  <a16:creationId xmlns:a16="http://schemas.microsoft.com/office/drawing/2014/main" id="{AFA83E47-FD1E-8063-388A-61F25EA1F475}"/>
                </a:ext>
              </a:extLst>
            </p:cNvPr>
            <p:cNvSpPr txBox="1"/>
            <p:nvPr/>
          </p:nvSpPr>
          <p:spPr>
            <a:xfrm>
              <a:off x="0" y="-47625"/>
              <a:ext cx="5245800" cy="860400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325;g2d746ef08c1_1_50">
            <a:extLst>
              <a:ext uri="{FF2B5EF4-FFF2-40B4-BE49-F238E27FC236}">
                <a16:creationId xmlns:a16="http://schemas.microsoft.com/office/drawing/2014/main" id="{549C2D57-DBA0-F84A-1F2F-0FF54FE6D4E5}"/>
              </a:ext>
            </a:extLst>
          </p:cNvPr>
          <p:cNvSpPr txBox="1"/>
          <p:nvPr/>
        </p:nvSpPr>
        <p:spPr>
          <a:xfrm>
            <a:off x="1150175" y="950625"/>
            <a:ext cx="162996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69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19C0FA-204F-F24F-32E6-44CCD3F8D1FC}"/>
              </a:ext>
            </a:extLst>
          </p:cNvPr>
          <p:cNvSpPr txBox="1"/>
          <p:nvPr/>
        </p:nvSpPr>
        <p:spPr>
          <a:xfrm>
            <a:off x="752166" y="1003339"/>
            <a:ext cx="10028902" cy="78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4000" b="1" i="0" u="none" strike="noStrike" cap="none" dirty="0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VALIDACIÓN CRUZADA</a:t>
            </a:r>
            <a:endParaRPr lang="es-E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27D32C9-2E93-B331-7B74-4D72535CF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16396"/>
              </p:ext>
            </p:extLst>
          </p:nvPr>
        </p:nvGraphicFramePr>
        <p:xfrm>
          <a:off x="10075581" y="1781904"/>
          <a:ext cx="7138221" cy="292952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934931">
                  <a:extLst>
                    <a:ext uri="{9D8B030D-6E8A-4147-A177-3AD203B41FA5}">
                      <a16:colId xmlns:a16="http://schemas.microsoft.com/office/drawing/2014/main" val="1913026584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1718304067"/>
                    </a:ext>
                  </a:extLst>
                </a:gridCol>
                <a:gridCol w="2138516">
                  <a:extLst>
                    <a:ext uri="{9D8B030D-6E8A-4147-A177-3AD203B41FA5}">
                      <a16:colId xmlns:a16="http://schemas.microsoft.com/office/drawing/2014/main" val="144202934"/>
                    </a:ext>
                  </a:extLst>
                </a:gridCol>
              </a:tblGrid>
              <a:tr h="478082">
                <a:tc>
                  <a:txBody>
                    <a:bodyPr/>
                    <a:lstStyle/>
                    <a:p>
                      <a:pPr algn="ctr"/>
                      <a:r>
                        <a:rPr lang="es-ES" sz="2800" b="1">
                          <a:solidFill>
                            <a:schemeClr val="bg1"/>
                          </a:solidFill>
                          <a:effectLst/>
                        </a:rPr>
                        <a:t>Modelo</a:t>
                      </a:r>
                    </a:p>
                  </a:txBody>
                  <a:tcPr marL="99060" marR="99060" anchor="ctr">
                    <a:solidFill>
                      <a:srgbClr val="791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err="1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  <a:r>
                        <a:rPr lang="es-ES" sz="2800" b="1" dirty="0">
                          <a:solidFill>
                            <a:schemeClr val="bg1"/>
                          </a:solidFill>
                          <a:effectLst/>
                        </a:rPr>
                        <a:t> Promedio</a:t>
                      </a:r>
                    </a:p>
                  </a:txBody>
                  <a:tcPr marL="99060" marR="99060" anchor="ctr">
                    <a:solidFill>
                      <a:srgbClr val="791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>
                          <a:solidFill>
                            <a:schemeClr val="bg1"/>
                          </a:solidFill>
                          <a:effectLst/>
                        </a:rPr>
                        <a:t>Desviación Estándar</a:t>
                      </a:r>
                    </a:p>
                  </a:txBody>
                  <a:tcPr marL="99060" marR="99060" anchor="ctr">
                    <a:solidFill>
                      <a:srgbClr val="791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307233"/>
                  </a:ext>
                </a:extLst>
              </a:tr>
              <a:tr h="651086">
                <a:tc>
                  <a:txBody>
                    <a:bodyPr/>
                    <a:lstStyle/>
                    <a:p>
                      <a:r>
                        <a:rPr lang="es-ES" sz="2400" b="1" dirty="0">
                          <a:effectLst/>
                        </a:rPr>
                        <a:t>Árbol de Decisión</a:t>
                      </a:r>
                      <a:endParaRPr lang="es-ES" sz="24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0.616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0.074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585568872"/>
                  </a:ext>
                </a:extLst>
              </a:tr>
              <a:tr h="682472">
                <a:tc>
                  <a:txBody>
                    <a:bodyPr/>
                    <a:lstStyle/>
                    <a:p>
                      <a:r>
                        <a:rPr lang="es-ES" sz="2400" b="1" dirty="0">
                          <a:effectLst/>
                        </a:rPr>
                        <a:t>SVM</a:t>
                      </a:r>
                      <a:endParaRPr lang="es-ES" sz="24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0.654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effectLst/>
                        </a:rPr>
                        <a:t>0.042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749219285"/>
                  </a:ext>
                </a:extLst>
              </a:tr>
              <a:tr h="651086">
                <a:tc>
                  <a:txBody>
                    <a:bodyPr/>
                    <a:lstStyle/>
                    <a:p>
                      <a:r>
                        <a:rPr lang="es-ES" sz="2400" b="1" dirty="0" err="1">
                          <a:effectLst/>
                        </a:rPr>
                        <a:t>Random</a:t>
                      </a:r>
                      <a:r>
                        <a:rPr lang="es-ES" sz="2400" b="1" dirty="0">
                          <a:effectLst/>
                        </a:rPr>
                        <a:t> Forest</a:t>
                      </a:r>
                      <a:endParaRPr lang="es-ES" sz="24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effectLst/>
                        </a:rPr>
                        <a:t>0.669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effectLst/>
                        </a:rPr>
                        <a:t>0.037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628029340"/>
                  </a:ext>
                </a:extLst>
              </a:tr>
            </a:tbl>
          </a:graphicData>
        </a:graphic>
      </p:graphicFrame>
      <p:pic>
        <p:nvPicPr>
          <p:cNvPr id="1026" name="Picture 2" descr="Gráfico de resultados">
            <a:extLst>
              <a:ext uri="{FF2B5EF4-FFF2-40B4-BE49-F238E27FC236}">
                <a16:creationId xmlns:a16="http://schemas.microsoft.com/office/drawing/2014/main" id="{859D96E4-799E-75F7-162E-74C118A09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16" y="176007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229A033-0F92-8A1F-C0ED-47DC2D263EDE}"/>
              </a:ext>
            </a:extLst>
          </p:cNvPr>
          <p:cNvSpPr txBox="1"/>
          <p:nvPr/>
        </p:nvSpPr>
        <p:spPr>
          <a:xfrm>
            <a:off x="752167" y="8015565"/>
            <a:ext cx="16461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Aunque los valores de </a:t>
            </a:r>
            <a:r>
              <a:rPr lang="es-MX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accuracy</a:t>
            </a:r>
            <a:r>
              <a:rPr lang="es-MX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obtenidos son diferentes, </a:t>
            </a:r>
            <a:r>
              <a:rPr lang="es-MX" sz="2400" b="1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Random</a:t>
            </a:r>
            <a:r>
              <a:rPr lang="es-MX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Forest </a:t>
            </a:r>
            <a:r>
              <a:rPr lang="es-MX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continúa siendo el modelo con mejor desempeño. Con un </a:t>
            </a:r>
            <a:r>
              <a:rPr lang="es-MX" sz="2400" b="1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accuracy</a:t>
            </a:r>
            <a:r>
              <a:rPr lang="es-MX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promedio de 0.669 y una desviación estándar de 0.037</a:t>
            </a:r>
            <a:r>
              <a:rPr lang="es-MX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, lo que indica un rendimiento estable y consistente en las diferentes particiones del conjunto de datos.</a:t>
            </a:r>
            <a:endParaRPr lang="es-ES" sz="2400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88FAFF-F485-4D4F-2B85-38F806EE001D}"/>
              </a:ext>
            </a:extLst>
          </p:cNvPr>
          <p:cNvSpPr txBox="1"/>
          <p:nvPr/>
        </p:nvSpPr>
        <p:spPr>
          <a:xfrm>
            <a:off x="10075581" y="5042586"/>
            <a:ext cx="71382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Para la validación cruzada se utilizó la mejor configuración de </a:t>
            </a:r>
            <a:r>
              <a:rPr lang="es-MX" sz="2400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hiperparámetros</a:t>
            </a:r>
            <a:r>
              <a:rPr lang="es-MX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encontrada mediante </a:t>
            </a:r>
            <a:r>
              <a:rPr lang="es-MX" sz="2400" b="1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GridSearchCV</a:t>
            </a:r>
            <a:r>
              <a:rPr lang="es-MX" sz="24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 y </a:t>
            </a:r>
            <a:r>
              <a:rPr lang="es-MX" sz="2400" b="1" i="0" dirty="0" err="1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RandomizedSearchCV</a:t>
            </a:r>
            <a:r>
              <a:rPr lang="es-MX" sz="2400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, los cuales ya emplean validación cruzada de forma interna. </a:t>
            </a:r>
            <a:endParaRPr lang="es-ES" sz="2400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1020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2089c74d98_0_6"/>
          <p:cNvSpPr/>
          <p:nvPr/>
        </p:nvSpPr>
        <p:spPr>
          <a:xfrm>
            <a:off x="16346250" y="26450"/>
            <a:ext cx="3119731" cy="10801218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22089c74d98_0_6"/>
          <p:cNvSpPr txBox="1"/>
          <p:nvPr/>
        </p:nvSpPr>
        <p:spPr>
          <a:xfrm>
            <a:off x="1703400" y="284575"/>
            <a:ext cx="18288000" cy="117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46"/>
              <a:buFont typeface="Arial"/>
              <a:buNone/>
            </a:pPr>
            <a:r>
              <a:rPr lang="en-US" sz="6346" b="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346" b="1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Conclusi</a:t>
            </a:r>
            <a:r>
              <a:rPr lang="en-US" sz="6346" b="1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6346" b="1" i="0" u="none" strike="noStrike" cap="none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22089c74d98_0_6"/>
          <p:cNvSpPr txBox="1"/>
          <p:nvPr/>
        </p:nvSpPr>
        <p:spPr>
          <a:xfrm>
            <a:off x="405140" y="2248278"/>
            <a:ext cx="161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7"/>
              <a:buFont typeface="Arial"/>
              <a:buNone/>
            </a:pPr>
            <a:r>
              <a:rPr lang="en-US" sz="3600" b="1" u="sng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Principales</a:t>
            </a:r>
            <a:r>
              <a:rPr lang="en-US" sz="3600" b="1" u="sng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u="sng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hallazgos</a:t>
            </a:r>
            <a:r>
              <a:rPr lang="en-US" sz="3600" b="1" u="sng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sz="3600" b="1" u="sng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logros</a:t>
            </a:r>
            <a:endParaRPr sz="2032" b="1" i="0" u="none" strike="noStrike" cap="none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g22089c74d98_0_6"/>
          <p:cNvSpPr/>
          <p:nvPr/>
        </p:nvSpPr>
        <p:spPr>
          <a:xfrm>
            <a:off x="-27676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22089c74d98_0_6"/>
          <p:cNvSpPr/>
          <p:nvPr/>
        </p:nvSpPr>
        <p:spPr>
          <a:xfrm>
            <a:off x="837772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9" name="Google Shape;429;g22089c74d98_0_6"/>
          <p:cNvGraphicFramePr/>
          <p:nvPr>
            <p:extLst>
              <p:ext uri="{D42A27DB-BD31-4B8C-83A1-F6EECF244321}">
                <p14:modId xmlns:p14="http://schemas.microsoft.com/office/powerpoint/2010/main" val="2287026449"/>
              </p:ext>
            </p:extLst>
          </p:nvPr>
        </p:nvGraphicFramePr>
        <p:xfrm>
          <a:off x="311450" y="3153401"/>
          <a:ext cx="15948875" cy="6839940"/>
        </p:xfrm>
        <a:graphic>
          <a:graphicData uri="http://schemas.openxmlformats.org/drawingml/2006/table">
            <a:tbl>
              <a:tblPr>
                <a:noFill/>
                <a:tableStyleId>{2587A478-D671-4230-B304-FF17D05509C0}</a:tableStyleId>
              </a:tblPr>
              <a:tblGrid>
                <a:gridCol w="217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1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RUBRO</a:t>
                      </a:r>
                      <a:endParaRPr sz="3500" b="1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solidFill>
                      <a:srgbClr val="7916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1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CONCLUSIÓN</a:t>
                      </a:r>
                      <a:endParaRPr sz="3500" b="1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solidFill>
                      <a:srgbClr val="79163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1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COMENTARIOS</a:t>
                      </a:r>
                      <a:endParaRPr sz="3500" b="1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solidFill>
                      <a:srgbClr val="791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6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b="1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Hallazgo</a:t>
                      </a:r>
                      <a:endParaRPr sz="2350" b="1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ES" sz="2400" dirty="0">
                          <a:latin typeface="Montserrat" panose="00000500000000000000" pitchFamily="2" charset="0"/>
                        </a:rPr>
                        <a:t>El género de un </a:t>
                      </a:r>
                      <a:r>
                        <a:rPr lang="es-ES" sz="2400" dirty="0" err="1">
                          <a:latin typeface="Montserrat" panose="00000500000000000000" pitchFamily="2" charset="0"/>
                        </a:rPr>
                        <a:t>track</a:t>
                      </a:r>
                      <a:r>
                        <a:rPr lang="es-ES" sz="2400" dirty="0">
                          <a:latin typeface="Montserrat" panose="00000500000000000000" pitchFamily="2" charset="0"/>
                        </a:rPr>
                        <a:t> no puede predecirse únicamente a partir de sus características técnicas.</a:t>
                      </a:r>
                      <a:endParaRPr sz="2400" dirty="0">
                        <a:latin typeface="Montserrat" panose="00000500000000000000" pitchFamily="2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35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Muestra que factores como contexto cultural, promoción, tendencias y hasta emociones del público influyen más allá de las métricas técnicas. Aunque características como tempo, tonalidad y estructura pueden impactar la recepción, la conexión emocional y la difusión juegan un papel clave en el éxito de un </a:t>
                      </a:r>
                      <a:r>
                        <a:rPr lang="es-ES" sz="2350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track</a:t>
                      </a:r>
                      <a:r>
                        <a:rPr lang="es-ES" sz="235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235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 b="1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Logro</a:t>
                      </a:r>
                      <a:endParaRPr sz="2350" b="1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El modelo </a:t>
                      </a:r>
                      <a:r>
                        <a:rPr lang="es-ES" sz="2400" b="0" i="0" u="none" strike="noStrike" cap="none" dirty="0" err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Random</a:t>
                      </a:r>
                      <a:r>
                        <a:rPr lang="es-ES" sz="2400" b="0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 Forest ha demostrado un rendimiento superior en comparación con su precursor, el Árbol de Decisión, al presentar mejores métricas de precisión (70.3%), </a:t>
                      </a:r>
                      <a:r>
                        <a:rPr lang="es-ES" sz="2400" b="0" i="0" u="none" strike="noStrike" cap="none" dirty="0" err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recall</a:t>
                      </a:r>
                      <a:r>
                        <a:rPr lang="es-ES" sz="2400" b="0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 (70.3%) y F1-score (70.1%). </a:t>
                      </a:r>
                    </a:p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35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 eficacia del </a:t>
                      </a:r>
                      <a:r>
                        <a:rPr lang="es-ES" sz="2350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Random</a:t>
                      </a:r>
                      <a:r>
                        <a:rPr lang="es-ES" sz="235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Forest al mejorar la estabilidad y precisión de la clasificación en comparación con un solo Árbol de Decisión. Gracias a su enfoque de agregación de múltiples árboles, logra reducir el sobreajuste y mejorar el desempeño general, lo que lo convierte en una opción más robusta para tareas de clasificación con estructuras de datos complejas.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915</Words>
  <Application>Microsoft Office PowerPoint</Application>
  <PresentationFormat>Personalizado</PresentationFormat>
  <Paragraphs>128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Montserrat</vt:lpstr>
      <vt:lpstr>Arial</vt:lpstr>
      <vt:lpstr>Calibri</vt:lpstr>
      <vt:lpstr>-apple-system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Andres Cantos</dc:creator>
  <cp:lastModifiedBy>Andres Cantos</cp:lastModifiedBy>
  <cp:revision>7</cp:revision>
  <dcterms:created xsi:type="dcterms:W3CDTF">2006-08-16T00:00:00Z</dcterms:created>
  <dcterms:modified xsi:type="dcterms:W3CDTF">2025-05-03T07:00:49Z</dcterms:modified>
</cp:coreProperties>
</file>